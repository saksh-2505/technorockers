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2A130AD-657C-4F11-B11C-1B4B1768FEE6}" v="4" dt="2026-01-28T12:52:44.73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768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396319" y="802299"/>
            <a:ext cx="5618515" cy="2541431"/>
          </a:xfrm>
        </p:spPr>
        <p:txBody>
          <a:bodyPr bIns="0"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96319" y="3531205"/>
            <a:ext cx="5618515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600" b="0" cap="all" baseline="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96319" y="329308"/>
            <a:ext cx="3086292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4703" y="798973"/>
            <a:ext cx="802005" cy="503578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396319" y="3528542"/>
            <a:ext cx="5618515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943861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976243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1756130"/>
            <a:ext cx="5617002" cy="1887950"/>
          </a:xfrm>
        </p:spPr>
        <p:txBody>
          <a:bodyPr anchor="b">
            <a:normAutofit/>
          </a:bodyPr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2" y="3806196"/>
            <a:ext cx="5617002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43491" y="3804985"/>
            <a:ext cx="561700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556653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890"/>
            <a:ext cx="6571343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3490" y="2013936"/>
            <a:ext cx="3125871" cy="34375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89182" y="2013936"/>
            <a:ext cx="3125652" cy="34375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552968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Straight Connector 35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164"/>
            <a:ext cx="6571344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9550"/>
            <a:ext cx="3125766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3491" y="2824270"/>
            <a:ext cx="3125766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89182" y="2023004"/>
            <a:ext cx="31256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89182" y="2821491"/>
            <a:ext cx="31256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18894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" name="Straight Connector 31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04088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82567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9042" y="798973"/>
            <a:ext cx="2425950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86656" y="798974"/>
            <a:ext cx="3828178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39042" y="3205492"/>
            <a:ext cx="2427369" cy="2248181"/>
          </a:xfrm>
        </p:spPr>
        <p:txBody>
          <a:bodyPr>
            <a:normAutofit/>
          </a:bodyPr>
          <a:lstStyle>
            <a:lvl1pPr marL="0" indent="0" algn="l">
              <a:buNone/>
              <a:defRPr sz="16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1748" y="3205491"/>
            <a:ext cx="242327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504927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/>
          <p:cNvGrpSpPr/>
          <p:nvPr/>
        </p:nvGrpSpPr>
        <p:grpSpPr>
          <a:xfrm>
            <a:off x="4996501" y="482171"/>
            <a:ext cx="3511387" cy="5149101"/>
            <a:chOff x="6852919" y="583365"/>
            <a:chExt cx="4681849" cy="5181928"/>
          </a:xfrm>
        </p:grpSpPr>
        <p:sp>
          <p:nvSpPr>
            <p:cNvPr id="14" name="Rectangle 13"/>
            <p:cNvSpPr/>
            <p:nvPr/>
          </p:nvSpPr>
          <p:spPr>
            <a:xfrm>
              <a:off x="6852919" y="583365"/>
              <a:ext cx="4681849" cy="5181928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Rectangle 14"/>
            <p:cNvSpPr/>
            <p:nvPr/>
          </p:nvSpPr>
          <p:spPr>
            <a:xfrm>
              <a:off x="7273787" y="915806"/>
              <a:ext cx="3844017" cy="4507918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148" y="1129513"/>
            <a:ext cx="3244935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40128" y="1122543"/>
            <a:ext cx="2234998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3492" y="3145992"/>
            <a:ext cx="3240286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36664" y="5469857"/>
            <a:ext cx="3252420" cy="320123"/>
          </a:xfrm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37530" y="318641"/>
            <a:ext cx="3251553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1281" y="3143605"/>
            <a:ext cx="3242014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871774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67428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18028" y="798974"/>
            <a:ext cx="1103027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3491" y="798974"/>
            <a:ext cx="5301095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6918028" y="798974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004792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015734"/>
            <a:ext cx="9144000" cy="4079520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00" t="1538" r="12500" b="-1538"/>
          <a:stretch/>
        </p:blipFill>
        <p:spPr>
          <a:xfrm>
            <a:off x="-1" y="6095253"/>
            <a:ext cx="9144001" cy="774727"/>
          </a:xfrm>
          <a:prstGeom prst="rect">
            <a:avLst/>
          </a:prstGeom>
        </p:spPr>
      </p:pic>
      <p:cxnSp>
        <p:nvCxnSpPr>
          <p:cNvPr id="13" name="Straight Connector 12"/>
          <p:cNvCxnSpPr/>
          <p:nvPr/>
        </p:nvCxnSpPr>
        <p:spPr>
          <a:xfrm>
            <a:off x="0" y="6101127"/>
            <a:ext cx="9144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43491" y="804520"/>
            <a:ext cx="6571343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5733"/>
            <a:ext cx="6571343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646542" y="330370"/>
            <a:ext cx="2368292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43491" y="329308"/>
            <a:ext cx="4034004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7725" y="798973"/>
            <a:ext cx="795746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6945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6858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A Self-Correcting Supply Chain for Modern </a:t>
            </a:r>
            <a:r>
              <a:rPr dirty="0" err="1"/>
              <a:t>Colours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				</a:t>
            </a:r>
          </a:p>
          <a:p>
            <a:pPr marL="0" indent="0">
              <a:buNone/>
            </a:pPr>
            <a:endParaRPr lang="en-IN" dirty="0"/>
          </a:p>
          <a:p>
            <a:pPr marL="0" indent="0" algn="ctr">
              <a:buNone/>
            </a:pPr>
            <a:r>
              <a:rPr sz="2400" dirty="0"/>
              <a:t>Decision Intelligence Platform for Paint Inventory Optimization</a:t>
            </a:r>
          </a:p>
          <a:p>
            <a:pPr marL="0" indent="0">
              <a:buNone/>
            </a:pPr>
            <a:endParaRPr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8EFC22C-2E66-2DE9-2D91-7821717D1E0B}"/>
              </a:ext>
            </a:extLst>
          </p:cNvPr>
          <p:cNvSpPr txBox="1"/>
          <p:nvPr/>
        </p:nvSpPr>
        <p:spPr>
          <a:xfrm>
            <a:off x="5476567" y="4158775"/>
            <a:ext cx="914400" cy="914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r>
              <a:rPr dirty="0"/>
              <a:t>Inventory issues are not caused by lack of data</a:t>
            </a:r>
          </a:p>
          <a:p>
            <a:r>
              <a:rPr dirty="0"/>
              <a:t>They are caused by delayed and reactive decisions</a:t>
            </a:r>
          </a:p>
          <a:p>
            <a:r>
              <a:rPr dirty="0"/>
              <a:t>Stockouts, overstocking, and manual planning hurt efficiency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Current Systems Fail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r>
              <a:rPr dirty="0"/>
              <a:t>Most systems show past data</a:t>
            </a:r>
          </a:p>
          <a:p>
            <a:r>
              <a:rPr dirty="0"/>
              <a:t>They do not predict future demand</a:t>
            </a:r>
          </a:p>
          <a:p>
            <a:r>
              <a:rPr dirty="0"/>
              <a:t>Dealers and warehouses work in isolation</a:t>
            </a:r>
          </a:p>
          <a:p>
            <a:r>
              <a:rPr dirty="0"/>
              <a:t>No proactive correction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Our Core Idea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r>
              <a:rPr dirty="0"/>
              <a:t>A self-correcting supply chain brain</a:t>
            </a:r>
          </a:p>
          <a:p>
            <a:r>
              <a:rPr dirty="0"/>
              <a:t>Predicts demand</a:t>
            </a:r>
          </a:p>
          <a:p>
            <a:r>
              <a:rPr dirty="0"/>
              <a:t>Detects risk early</a:t>
            </a:r>
          </a:p>
          <a:p>
            <a:r>
              <a:rPr dirty="0"/>
              <a:t>Recommends actions automatically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the System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r>
              <a:rPr dirty="0"/>
              <a:t>Sales data, dealer data, and buyer behavior are collected</a:t>
            </a:r>
          </a:p>
          <a:p>
            <a:r>
              <a:rPr dirty="0"/>
              <a:t>Intelligence engine analyzes patterns</a:t>
            </a:r>
          </a:p>
          <a:p>
            <a:r>
              <a:rPr dirty="0"/>
              <a:t>System generates alerts and recommendations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Dealer-Level Intelligence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r>
              <a:rPr dirty="0"/>
              <a:t>Each dealer has a health score</a:t>
            </a:r>
          </a:p>
          <a:p>
            <a:r>
              <a:rPr dirty="0"/>
              <a:t>Based on stock turnover and aging</a:t>
            </a:r>
          </a:p>
          <a:p>
            <a:r>
              <a:rPr dirty="0"/>
              <a:t>Helps prevent overstock and stockouts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Inventory Rebalancing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r>
              <a:rPr dirty="0"/>
              <a:t>Predicts where stock will run out</a:t>
            </a:r>
          </a:p>
          <a:p>
            <a:r>
              <a:rPr dirty="0"/>
              <a:t>Identifies excess inventory nearby</a:t>
            </a:r>
          </a:p>
          <a:p>
            <a:r>
              <a:rPr dirty="0"/>
              <a:t>Recommends dealer-to-dealer transfers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Buyer Signals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r>
              <a:rPr dirty="0"/>
              <a:t>Search behavior and shade interest</a:t>
            </a:r>
          </a:p>
          <a:p>
            <a:r>
              <a:rPr dirty="0"/>
              <a:t>Availability checks</a:t>
            </a:r>
          </a:p>
          <a:p>
            <a:r>
              <a:rPr dirty="0"/>
              <a:t>Location based demand patterns</a:t>
            </a:r>
          </a:p>
          <a:p>
            <a:r>
              <a:rPr dirty="0"/>
              <a:t>Early indicators of demand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Practical Intelligence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r>
              <a:rPr dirty="0"/>
              <a:t>Uses simple forecasting and trend analysis</a:t>
            </a:r>
          </a:p>
          <a:p>
            <a:r>
              <a:rPr dirty="0"/>
              <a:t>Rule-based recommendations</a:t>
            </a:r>
          </a:p>
          <a:p>
            <a:r>
              <a:rPr dirty="0"/>
              <a:t>Explainable and trustworthy decisions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r>
              <a:rPr dirty="0"/>
              <a:t>Reduced stockouts</a:t>
            </a:r>
          </a:p>
          <a:p>
            <a:r>
              <a:rPr dirty="0"/>
              <a:t>Lower dead inventory</a:t>
            </a:r>
          </a:p>
          <a:p>
            <a:r>
              <a:rPr dirty="0"/>
              <a:t>Faster response to demand</a:t>
            </a:r>
          </a:p>
          <a:p>
            <a:r>
              <a:rPr dirty="0"/>
              <a:t>Lower logistics cost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This Wins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r>
              <a:rPr dirty="0"/>
              <a:t>Prevents problems instead of reacting</a:t>
            </a:r>
          </a:p>
          <a:p>
            <a:r>
              <a:rPr dirty="0"/>
              <a:t>Scalable and realistic</a:t>
            </a:r>
          </a:p>
          <a:p>
            <a:r>
              <a:rPr dirty="0"/>
              <a:t>Aligns technology with business outcomes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Closing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r>
              <a:rPr dirty="0"/>
              <a:t>We are not digitizing the supply chain</a:t>
            </a:r>
          </a:p>
          <a:p>
            <a:r>
              <a:rPr dirty="0"/>
              <a:t>We are teaching it to think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8</TotalTime>
  <Words>219</Words>
  <Application>Microsoft Office PowerPoint</Application>
  <PresentationFormat>On-screen Show (4:3)</PresentationFormat>
  <Paragraphs>62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Gill Sans MT</vt:lpstr>
      <vt:lpstr>Gallery</vt:lpstr>
      <vt:lpstr>A Self-Correcting Supply Chain for Modern Colours</vt:lpstr>
      <vt:lpstr>The Problem</vt:lpstr>
      <vt:lpstr>Why Current Systems Fail</vt:lpstr>
      <vt:lpstr>Our Core Idea</vt:lpstr>
      <vt:lpstr>How the System Works</vt:lpstr>
      <vt:lpstr>Dealer-Level Intelligence</vt:lpstr>
      <vt:lpstr>Inventory Rebalancing</vt:lpstr>
      <vt:lpstr>Buyer Signals</vt:lpstr>
      <vt:lpstr>Practical Intelligence</vt:lpstr>
      <vt:lpstr>Business Impact</vt:lpstr>
      <vt:lpstr>Why This Wins</vt:lpstr>
      <vt:lpstr>Closing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Aadarsh Mohan Sinha</cp:lastModifiedBy>
  <cp:revision>2</cp:revision>
  <dcterms:created xsi:type="dcterms:W3CDTF">2013-01-27T09:14:16Z</dcterms:created>
  <dcterms:modified xsi:type="dcterms:W3CDTF">2026-01-28T12:56:46Z</dcterms:modified>
  <cp:category/>
</cp:coreProperties>
</file>